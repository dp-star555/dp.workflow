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各指定目录源文件统计
• DP.WorkFlow.Nodes.*/Workflow*Nodes.cs
• 逐项目 dotnet test 输出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各 .csproj 的 ProjectReference
• DP.WorkFlow/src/*/*.csproj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DP.WorkFlow.Abstractions/Nodes/IWorkflowNodeModel.cs
• DP.WorkFlow.Abstractions/Plugins/WorkflowNodeCatalog.cs
• DP.WorkFlow.Core/Models/WorkflowCanvasModel.cs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DP.WorkFlow.Core/Compilation/WorkflowDefinitionCompiler.cs
• DP.WorkFlow.Core/Validation/WorkflowValidationError.cs
• DP.WorkFlow.Core/Binding/WorkflowBindingAnalysis.cs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DP.WorkFlow.Runtime/Engine/WorkflowEngine.cs
• DP.WorkFlow.Abstractions/Runtime/NodeExecutionResult.cs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DP.WorkFlow.Runtime/Engine/WorkflowEngine.cs
• DP.WorkFlow.Runtime/Context/WorkflowContext.cs
• DP.WorkFlow.Nodes.Composite/Block/BlockNodeHandler.cs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DP.WorkFlow.Abstractions/Binding/WorkflowInput.cs
• DP.WorkFlow.Core/Binding/WorkflowBindingAnalysis.cs
• DP.WorkFlow.Runtime/Binding/WorkflowBindingResolver.cs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DP.WorkFlow.Nodes.Standard/WorkflowStandardNodes.cs
• DP.WorkFlow.Nodes.Composite/WorkflowCompositeNodes.cs
• DP.WorkFlow.Nodes.Motion/WorkflowMotionNodes.cs
• DP.WorkFlow.Nodes.Process/WorkflowProcessNodes.cs
• DP.WorkFlow.Nodes.Vision/WorkflowVisionNodes.cs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DP.WorkFlow.Persistence.Json/WorkflowCanvasJsonStore.cs
• DP.WorkFlow.Persistence.Json/Documents/WorkflowJsonDocument.cs
• DP.WorkFlow.Persistence.Json/Models/UnknownWorkflowNodeModel.cs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DP.WorkFlow.UI.Shared/Designer/WorkflowDesignerSession.cs
• DP.WorkFlow.UI.Shared/Documents/WorkflowDocumentWorkspace.cs
• DP.WorkFlow.UI.Shared/Properties/WorkflowPropertyInspectorModel.cs
• DP.WorkFlow.UI.Shared/Runtime/WorkflowRuntimeMonitorModel.cs
• DP.WorkFlow.UI.Shared/Runtime/WorkflowStudioRuntimeBinding.cs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DP.WorkFlow.Nodes.Vision/AcquireVisionImageNode.cs
• DP.WorkFlow.Nodes.Vision/RunVisionToolNode.cs
• DP.WorkFlow.Vision.UI/VisionDisplayHub.cs
• DP.WorkFlow.Vision.UI/VisionRoiEditorSession.cs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DP.WorkFlow/DP.DP.WorkFlow.sln
• DP.WorkFlow/tests/*/*.csproj
• 本次 dotnet test 执行结果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分析依据：
• DP.WorkFlow.Runtime/Engine/WorkflowEngine.cs
• DP.WorkFlow.UI.Shared/Designer/WorkflowDesignerSession.cs
• DP.WorkFlow.Nodes.Standard/Scripting/CSharpScriptNode.cs
• DP.WorkFlow/src/DP.WorkFlow.Scripting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4E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WORKFLOW.REBUILD  ·  ARCHITECTURE REVIEW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0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55280" y="640080"/>
            <a:ext cx="1188720" cy="27432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144000" y="640080"/>
            <a:ext cx="1280160" cy="59436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955280" y="914400"/>
            <a:ext cx="640080" cy="91440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595360" y="1828800"/>
            <a:ext cx="1280160" cy="54864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424160" y="1234440"/>
            <a:ext cx="731520" cy="73152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9875520" y="1965960"/>
            <a:ext cx="1280160" cy="41148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7680960" y="1828800"/>
            <a:ext cx="914400" cy="100584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680960" y="2834640"/>
            <a:ext cx="1280160" cy="54864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8961120" y="2377440"/>
            <a:ext cx="914400" cy="100584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875520" y="2377440"/>
            <a:ext cx="640080" cy="86868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H="1">
            <a:off x="10515600" y="1965960"/>
            <a:ext cx="640080" cy="128016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515600" y="3246120"/>
            <a:ext cx="822960" cy="86868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961120" y="3383280"/>
            <a:ext cx="640080" cy="100584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9601200" y="3246120"/>
            <a:ext cx="914400" cy="114300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>
            <a:off x="8138160" y="4389120"/>
            <a:ext cx="1463040" cy="36576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8138160" y="3383280"/>
            <a:ext cx="822960" cy="1371600"/>
          </a:xfrm>
          <a:prstGeom prst="line">
            <a:avLst/>
          </a:prstGeom>
          <a:noFill/>
          <a:ln w="19050">
            <a:solidFill>
              <a:srgbClr val="3F7772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882128" y="841248"/>
            <a:ext cx="146304" cy="146304"/>
          </a:xfrm>
          <a:prstGeom prst="ellipse">
            <a:avLst/>
          </a:prstGeom>
          <a:solidFill>
            <a:srgbClr val="B7E34A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0848" y="56692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51008" y="116128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2208" y="175564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02368" y="2304288"/>
            <a:ext cx="146304" cy="146304"/>
          </a:xfrm>
          <a:prstGeom prst="ellipse">
            <a:avLst/>
          </a:prstGeom>
          <a:solidFill>
            <a:srgbClr val="B7E34A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82528" y="189280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76148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7968" y="331012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42448" y="3172968"/>
            <a:ext cx="146304" cy="146304"/>
          </a:xfrm>
          <a:prstGeom prst="ellipse">
            <a:avLst/>
          </a:prstGeom>
          <a:solidFill>
            <a:srgbClr val="B7E34A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408" y="404164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8048" y="431596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5008" y="4681728"/>
            <a:ext cx="146304" cy="14630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102A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658368"/>
            <a:ext cx="324612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6751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 ·  .NET 8  ·  FLOW-BASED RUNTIME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14173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DP.WorkFlow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58368" y="22402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8F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流程图代码结构与逻辑框架梳理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5800" y="309067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FC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从画布模型、编译校验、运行时调度，到节点插件、JSON 持久化与视觉 UI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" y="5074920"/>
            <a:ext cx="5989320" cy="868680"/>
          </a:xfrm>
          <a:prstGeom prst="roundRect">
            <a:avLst>
              <a:gd name="adj" fmla="val 12632"/>
            </a:avLst>
          </a:prstGeom>
          <a:solidFill>
            <a:srgbClr val="173A38"/>
          </a:solidFill>
          <a:ln w="12700">
            <a:solidFill>
              <a:srgbClr val="2C5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276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52029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“可编辑模型 → 可验证定义 → 可观测执行”三段式内核，外接领域节点与 UI。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6263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6A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代码审阅范围：用户指定的 12 个目录（其中 DP.WorkFlow.Scripting 为空壳目录）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一页结论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体系不是“节点直接互调”，而是目录驱动、先编译、后调度的插件化流程引擎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3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801368" y="16276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01368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个指定目录中，Scripting 无源码/项目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9856" y="1481328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DDF3ED"/>
          </a:solidFill>
          <a:ln w="12700">
            <a:solidFill>
              <a:srgbClr val="D3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654296" y="16276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已注册节点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54296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/ 复合 / 运控 / 工艺 / 视觉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481328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3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15.3k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507224" y="16276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C#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07224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指定有效目录，不含 bin / obj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25712" y="1481328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3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08592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0360152" y="16276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60152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逐个运行仓库内全部 12 个测试项目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0632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3246120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255264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架构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" y="3657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分层清晰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8096" y="4105656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Abstractions 定义 seam；Core 负责图与编译；Runtime 负责执行；Nodes 与 UI 位于外层。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34256" y="30632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3246120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3255264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逻辑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35424" y="3657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 / 数据流分离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35424" y="4105656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端口连接决定控制流；WorkflowInput + BindingResolver 提供强类型数据流，并考虑并行可见性。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1584" y="30632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3246120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55264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工程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02752" y="3657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可扩展且可观测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02752" y="4105656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节点模型与 Handler 解耦；快照、Trace、暂停、Hold、恢复、子流程均由 Runtime 统一治理。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9253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需要优先治理：巨型 DesignerSession / Engine、脚本信任边界、DP.WorkFlow.Scripting 空壳、测试项目未全部纳入解决方案。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模块依赖：内核向内稳定，能力向外扩展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箭头表示编译期 ProjectReference / 运行期接口依赖方向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84168" y="5230368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CFE8E4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75608" y="5340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DP.WorkFlow.Abstractions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75608" y="5623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端口 / 结果 / seam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01088" y="4261104"/>
            <a:ext cx="3712464" cy="713232"/>
          </a:xfrm>
          <a:prstGeom prst="roundRect">
            <a:avLst>
              <a:gd name="adj" fmla="val 15385"/>
            </a:avLst>
          </a:prstGeom>
          <a:solidFill>
            <a:srgbClr val="DCECE9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92528" y="437083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DP.WorkFlow.Core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92528" y="46542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/ 校验 / 编译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8144" y="4261104"/>
            <a:ext cx="3712464" cy="713232"/>
          </a:xfrm>
          <a:prstGeom prst="roundRect">
            <a:avLst>
              <a:gd name="adj" fmla="val 15385"/>
            </a:avLst>
          </a:prstGeom>
          <a:solidFill>
            <a:srgbClr val="DCECE9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9584" y="437083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DP.WorkFlow.Runtime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9584" y="46542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/ Engine / Host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5168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6608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Nodes.Standard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6608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160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87600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Nodes.Composite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87600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7152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28592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Nodes.Motion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8592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8144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9584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9584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9136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0576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Nodes.Vision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10576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60128" y="2880360"/>
            <a:ext cx="1676400" cy="1051560"/>
          </a:xfrm>
          <a:prstGeom prst="roundRect">
            <a:avLst>
              <a:gd name="adj" fmla="val 10435"/>
            </a:avLst>
          </a:prstGeom>
          <a:solidFill>
            <a:srgbClr val="EAF2F1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51568" y="2990088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Persistence.Json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51568" y="3273552"/>
            <a:ext cx="149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55368" y="1481328"/>
            <a:ext cx="3758184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46808" y="1591056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UI.Shared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346808" y="1874520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设计器 / 属性 / 监视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8144" y="1481328"/>
            <a:ext cx="3758184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9584" y="1591056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Vision.UI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69584" y="1874520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Hub / ROI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 flipV="1">
            <a:off x="6099048" y="3968496"/>
            <a:ext cx="0" cy="256032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6099048" y="2542032"/>
            <a:ext cx="0" cy="310896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829800" y="1115568"/>
            <a:ext cx="1600200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29800" y="112471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外层：适配与交互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9808" y="6089904"/>
            <a:ext cx="157276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609904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内层：稳定语义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0" y="608076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额外适配器：ScriptEngine 提供 Roslyn；MachineVision.Abstractions 提供厂商无关视觉 seam。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核心对象模型：配置、布局、连线各司其职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NodeModel 不执行；Handler 才承载运行行为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9788" y="24871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4388" y="24871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0253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IWorkflowNodeModel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331720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· Title · NodeType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可持久化配置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0308" y="207568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6348" y="207568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59105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WorkflowCanvasNode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46904" y="1920240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+ X/Y/W/H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端口边 / 隐藏端口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0308" y="431596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6348" y="431596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831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WorkflowConnection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46904" y="4160520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Model：From/To Node + 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路径点 / 标签位置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2514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DDF3ED"/>
          </a:solidFill>
          <a:ln w="12700">
            <a:solidFill>
              <a:srgbClr val="DDF3ED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56548" y="31729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71148" y="31729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264261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WorkflowCanvasModel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2971800"/>
            <a:ext cx="2221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 + Connections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3163824" y="2121408"/>
            <a:ext cx="1591056" cy="420624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24928" y="2130552"/>
            <a:ext cx="1536192" cy="777240"/>
          </a:xfrm>
          <a:prstGeom prst="line">
            <a:avLst/>
          </a:prstGeom>
          <a:noFill/>
          <a:ln w="2540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7424928" y="3584448"/>
            <a:ext cx="1536192" cy="786384"/>
          </a:xfrm>
          <a:prstGeom prst="line">
            <a:avLst/>
          </a:prstGeom>
          <a:noFill/>
          <a:ln w="25400">
            <a:solidFill>
              <a:srgbClr val="32C3A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" y="416052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173A38"/>
          </a:solidFill>
          <a:ln w="12700">
            <a:solidFill>
              <a:srgbClr val="173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seam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681728"/>
            <a:ext cx="2651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WorkflowNodeDescriptor：稳定类型键、版本、工厂、端口、输出类型</a:t>
            </a:r>
            <a:endParaRPr lang="en-US" sz="1020" dirty="0"/>
          </a:p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WorkflowNodeCatalog：线程安全注册，重复键直接失败</a:t>
            </a:r>
            <a:endParaRPr lang="en-US" sz="1020" dirty="0"/>
          </a:p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IWorkflowDynamicPortProvider：按实例配置动态裁剪端口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041648" y="5715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收益：设计器可编辑同一份模型；持久化只关心配置；运行时可替换 Handler。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编译流水线：把“可编辑画布”收敛成“只读定义”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运行前一次性发现结构、端口、绑定、并行与子画布问题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92024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084832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093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画布输入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303580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+ 连线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起始节点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14600" y="3044952"/>
            <a:ext cx="274320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192024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2084832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093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结构校验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03580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/ 端口 / 基数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连接完整性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37176" y="3044952"/>
            <a:ext cx="274320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5504" y="192024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0096" y="2084832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0096" y="2093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0096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0096" y="303580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支配关系 / 可达性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成员路径 / 类型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59752" y="3044952"/>
            <a:ext cx="274320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92024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62672" y="2084832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2093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62672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结构识别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62672" y="303580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ParallelAll 汇聚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递归编译子画布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82328" y="3044952"/>
            <a:ext cx="274320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0656" y="192024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DDF3ED"/>
          </a:solidFill>
          <a:ln w="12700">
            <a:solidFill>
              <a:srgbClr val="0C7C79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85248" y="2084832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85248" y="2093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85248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只读定义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85248" y="303580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节点索引 / 出边索引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4754880"/>
            <a:ext cx="10863072" cy="1143000"/>
          </a:xfrm>
          <a:prstGeom prst="roundRect">
            <a:avLst>
              <a:gd name="adj" fmla="val 9600"/>
            </a:avLst>
          </a:prstGeom>
          <a:solidFill>
            <a:srgbClr val="183A38"/>
          </a:solidFill>
          <a:ln w="12700">
            <a:solidFill>
              <a:srgbClr val="183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5010912"/>
            <a:ext cx="219456" cy="21945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928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43584" y="5266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1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阻止编译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5010912"/>
            <a:ext cx="219456" cy="219456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4928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95344" y="5266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1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保留诊断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5010912"/>
            <a:ext cx="219456" cy="21945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4928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循环子画布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47104" y="5266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1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869680" y="5010912"/>
            <a:ext cx="219456" cy="219456"/>
          </a:xfrm>
          <a:prstGeom prst="ellipse">
            <a:avLst/>
          </a:prstGeom>
          <a:solidFill>
            <a:srgbClr val="B7E34A"/>
          </a:solidFill>
          <a:ln w="12700">
            <a:solidFill>
              <a:srgbClr val="B7E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4928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不可达节点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98864" y="5266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1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WF101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97280" y="5989320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WorkflowDefinition 是运行时的窄接口：GetNodeOrThrow / GetNextNodeIds / GetParallelScope / GetChildDefinition。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运行主循环：Token 沿“选中端口”推进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节点永远不返回目标 ID；图的连线关系由 WorkflowDefinition 统一解释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2714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939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104" y="242316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/ 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Cancellation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2670048"/>
            <a:ext cx="539496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96596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150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314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0939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解析节点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18104" y="242316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NodeId → Model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2670048"/>
            <a:ext cx="539496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196596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7508" y="262432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9148" y="262432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20939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Handler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04104" y="242316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ValueTask&lt;Result&gt;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67728" y="2670048"/>
            <a:ext cx="539496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43800" y="196596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350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514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20939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记录输出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90104" y="242316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/ Token / Scope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+ Trace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53728" y="2670048"/>
            <a:ext cx="539496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96596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DDF3ED"/>
          </a:solidFill>
          <a:ln w="12700">
            <a:solidFill>
              <a:srgbClr val="DDF3ED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7950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71148" y="26243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20939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选择后继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76104" y="242316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SelectedPortKey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NextNodeIds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4400" y="416052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52144" y="4343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单目标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993392" y="4325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 while 循环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61288" y="47274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 / True / False / Timeout…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53712" y="416052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0E5"/>
          </a:solidFill>
          <a:ln w="12700">
            <a:solidFill>
              <a:srgbClr val="F1C6A3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91456" y="4343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8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96128" y="43159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ParallelAll.Branch 合法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727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创建并行作用域与子 Token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83880" y="416052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DEAEA"/>
          </a:solidFill>
          <a:ln w="12700">
            <a:solidFill>
              <a:srgbClr val="E7B9B9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421624" y="4343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0" y="43159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/ Stop / Interrupt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30768" y="47274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可重试故障节点或跳转指定节点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057400" y="5870448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安全阀：单节点执行次数与总执行次数均设上限，防止无限循环。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并行与子流程：结构化并发，而不是任意 Task 散射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Scope 身份保证输出可见性；子引擎受父引擎暂停与 Hold 监管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并行作用域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2221992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9516" y="2651760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53996" y="2651760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50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ParallelAll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6791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Branch × 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07792" y="141732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57500" y="17785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820" y="17785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54533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 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54096" y="187452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07792" y="2642616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57500" y="3003804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4820" y="3003804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2770632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 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54096" y="3099816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07792" y="3867912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57500" y="422910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4820" y="422910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2384" y="399592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 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54096" y="4325112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10912" y="2221992"/>
            <a:ext cx="1691640" cy="960120"/>
          </a:xfrm>
          <a:prstGeom prst="roundRect">
            <a:avLst>
              <a:gd name="adj" fmla="val 11429"/>
            </a:avLst>
          </a:prstGeom>
          <a:solidFill>
            <a:srgbClr val="DDF3ED"/>
          </a:solidFill>
          <a:ln w="12700">
            <a:solidFill>
              <a:srgbClr val="DDF3ED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60620" y="2651760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2260" y="2651760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3500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WaitAll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57216" y="267919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共同汇聚点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V="1">
            <a:off x="2322576" y="1819656"/>
            <a:ext cx="539496" cy="886968"/>
          </a:xfrm>
          <a:prstGeom prst="line">
            <a:avLst/>
          </a:prstGeom>
          <a:noFill/>
          <a:ln w="2286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43400" y="1819656"/>
            <a:ext cx="630936" cy="886968"/>
          </a:xfrm>
          <a:prstGeom prst="line">
            <a:avLst/>
          </a:prstGeom>
          <a:noFill/>
          <a:ln w="2286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22576" y="2706624"/>
            <a:ext cx="539496" cy="338328"/>
          </a:xfrm>
          <a:prstGeom prst="line">
            <a:avLst/>
          </a:prstGeom>
          <a:noFill/>
          <a:ln w="2286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4343400" y="2706624"/>
            <a:ext cx="630936" cy="338328"/>
          </a:xfrm>
          <a:prstGeom prst="line">
            <a:avLst/>
          </a:prstGeom>
          <a:noFill/>
          <a:ln w="2286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322576" y="2706624"/>
            <a:ext cx="539496" cy="1563624"/>
          </a:xfrm>
          <a:prstGeom prst="line">
            <a:avLst/>
          </a:prstGeom>
          <a:noFill/>
          <a:ln w="2286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4343400" y="2706624"/>
            <a:ext cx="630936" cy="1563624"/>
          </a:xfrm>
          <a:prstGeom prst="line">
            <a:avLst/>
          </a:prstGeom>
          <a:noFill/>
          <a:ln w="2286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7240" y="4892040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任一分支异常 → 取消其余分支；全部到达 merge 后父 Token 继续。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78040" y="1417320"/>
            <a:ext cx="4343400" cy="4069080"/>
          </a:xfrm>
          <a:prstGeom prst="roundRect">
            <a:avLst>
              <a:gd name="adj" fmla="val 3371"/>
            </a:avLst>
          </a:prstGeom>
          <a:solidFill>
            <a:srgbClr val="183A38"/>
          </a:solidFill>
          <a:ln w="12700">
            <a:solidFill>
              <a:srgbClr val="183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 子流程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38360" y="1664208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38360" y="16733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43800" y="233172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8F0E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3508" y="27386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10828" y="273862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245973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输入映射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690104" y="2788920"/>
            <a:ext cx="1124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Literal / 变量 / 绑定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537192" y="233172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8F0E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486900" y="273862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04220" y="273862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01784" y="245973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 Context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683496" y="2788920"/>
            <a:ext cx="1124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复制变量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隔离节点输出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979408" y="2788920"/>
            <a:ext cx="521208" cy="0"/>
          </a:xfrm>
          <a:prstGeom prst="line">
            <a:avLst/>
          </a:prstGeom>
          <a:noFill/>
          <a:ln w="25400">
            <a:solidFill>
              <a:srgbClr val="B7E34A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543800" y="388620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8F0E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493508" y="42931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10828" y="42931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08392" y="401421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子定义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690104" y="4343400"/>
            <a:ext cx="1124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预编译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537192" y="388620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8F0E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486900" y="429310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04220" y="429310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01784" y="401421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输出映射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683496" y="4343400"/>
            <a:ext cx="1124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回写父变量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979408" y="4343400"/>
            <a:ext cx="521208" cy="0"/>
          </a:xfrm>
          <a:prstGeom prst="line">
            <a:avLst/>
          </a:prstGeom>
          <a:noFill/>
          <a:ln w="25400">
            <a:solidFill>
              <a:srgbClr val="B7E34A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7516368" y="507492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Services 与 Signal；子运行快照嵌入父快照。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463040" y="59253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输出可见性规则：当前 Token、祖先 Token、以及“已完成并行分支”的输出可读。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数据绑定：控制流之外的强类型数据通道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WorkflowInput&lt;T&gt; 同时支持 Literal、全局变量、上游节点输出与成员路径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" y="246888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2908" y="246888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2996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生产节点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104" y="2359152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= object?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Run / Token / Scope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0148" y="180136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3308" y="180136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36245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WorkflowBindingKey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66744" y="1691640"/>
            <a:ext cx="2130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NodeId | Member.Path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$global:key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31546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0148" y="372160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3308" y="372160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328269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WorkflowInput&lt;T&gt;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66744" y="3611880"/>
            <a:ext cx="2130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Literal / Binding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901952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DDF3ED"/>
          </a:solidFill>
          <a:ln w="12700">
            <a:solidFill>
              <a:srgbClr val="DDF3ED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6268" y="246888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0828" y="2468880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0299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BindingResolver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2864" y="2359152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 → 反射路径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类型转换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921240" y="1901952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70948" y="2468880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71148" y="2468880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85832" y="20299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消费节点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67544" y="2359152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ResolveInput&lt;T&gt;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V="1">
            <a:off x="2761488" y="1828800"/>
            <a:ext cx="850392" cy="68580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33872" y="1828800"/>
            <a:ext cx="886968" cy="502920"/>
          </a:xfrm>
          <a:prstGeom prst="line">
            <a:avLst/>
          </a:prstGeom>
          <a:noFill/>
          <a:ln w="2540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5833872" y="2743200"/>
            <a:ext cx="886968" cy="1005840"/>
          </a:xfrm>
          <a:prstGeom prst="line">
            <a:avLst/>
          </a:prstGeom>
          <a:noFill/>
          <a:ln w="2540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88552" y="2514600"/>
            <a:ext cx="886968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" y="4754880"/>
            <a:ext cx="10744200" cy="1024128"/>
          </a:xfrm>
          <a:prstGeom prst="roundRect">
            <a:avLst>
              <a:gd name="adj" fmla="val 10714"/>
            </a:avLst>
          </a:prstGeom>
          <a:solidFill>
            <a:srgbClr val="183A38"/>
          </a:solidFill>
          <a:ln w="12700">
            <a:solidFill>
              <a:srgbClr val="183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965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64792" y="4937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支配关系 / 必然执行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639312" y="4965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16552" y="4937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成员路径 / 输出类型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6291072" y="4965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运行期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68312" y="4937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可见 / null / 转换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8942832" y="4965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20072" y="4937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反射访问计划缓存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1920240" y="6062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核心价值：连线负责“先后顺序”，绑定负责“值从哪里来”，两者可独立演进。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节点生态：84 种节点围绕同一运行接口扩展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节点模型声明配置与端口；Handler 通过宿主 IServiceProvider 访问领域能力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08760" y="1581912"/>
            <a:ext cx="6515947" cy="347472"/>
          </a:xfrm>
          <a:prstGeom prst="roundRect">
            <a:avLst>
              <a:gd name="adj" fmla="val 36842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8715" y="1545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32520" y="15544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流程控制、比较、信号、队列、脚本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2423160"/>
            <a:ext cx="250613" cy="347472"/>
          </a:xfrm>
          <a:prstGeom prst="roundRect">
            <a:avLst>
              <a:gd name="adj" fmla="val 51081"/>
            </a:avLst>
          </a:prstGeom>
          <a:solidFill>
            <a:srgbClr val="B7E34A"/>
          </a:solidFill>
          <a:ln w="12700">
            <a:solidFill>
              <a:srgbClr val="B7E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3381" y="2386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32520" y="23957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 子画布与输入/输出映射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23697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08760" y="3264408"/>
            <a:ext cx="4260427" cy="347472"/>
          </a:xfrm>
          <a:prstGeom prst="roundRect">
            <a:avLst>
              <a:gd name="adj" fmla="val 36842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195" y="3227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32520" y="32369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IO、轴、气缸、真空、读码器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407822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4105656"/>
            <a:ext cx="6766560" cy="347472"/>
          </a:xfrm>
          <a:prstGeom prst="roundRect">
            <a:avLst>
              <a:gd name="adj" fmla="val 36842"/>
            </a:avLst>
          </a:prstGeom>
          <a:solidFill>
            <a:srgbClr val="9C6ADE"/>
          </a:solidFill>
          <a:ln w="12700">
            <a:solidFill>
              <a:srgbClr val="9C6A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40782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产品流、工站、晶圆机器人、异常恢复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49194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08760" y="4946904"/>
            <a:ext cx="3257973" cy="347472"/>
          </a:xfrm>
          <a:prstGeom prst="roundRect">
            <a:avLst>
              <a:gd name="adj" fmla="val 36842"/>
            </a:avLst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0741" y="4910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49194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采图、工具、标定、OCR、缺陷、存档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5715000"/>
            <a:ext cx="10744200" cy="548640"/>
          </a:xfrm>
          <a:prstGeom prst="roundRect">
            <a:avLst>
              <a:gd name="adj" fmla="val 20000"/>
            </a:avLst>
          </a:prstGeom>
          <a:solidFill>
            <a:srgbClr val="173A38"/>
          </a:solidFill>
          <a:ln w="12700">
            <a:solidFill>
              <a:srgbClr val="173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8613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统一扩展步骤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5797296"/>
            <a:ext cx="854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+ Attribute  →  Descriptor/Register  →  Handler/Register  →  宿主注入领域 Adapter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持久化：Schema 3 + 节点版本 + 向后迁移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布局、配置、端口覆盖、子画布与连线路径均被保存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3438144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19072"/>
            <a:ext cx="64008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282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21305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→ Document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2578608"/>
            <a:ext cx="303580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NodeType 查 Descriptor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按真实模型类型序列化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临时文件 + 原子替换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536192"/>
            <a:ext cx="3438144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719072"/>
            <a:ext cx="640080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282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1728" y="21305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分流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1728" y="2578608"/>
            <a:ext cx="303580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当前版本直接读取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1/2 走 Legacy 迁移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MigrationReport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02752" y="1536192"/>
            <a:ext cx="3438144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2E0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719072"/>
            <a:ext cx="640080" cy="274320"/>
          </a:xfrm>
          <a:prstGeom prst="roundRect">
            <a:avLst>
              <a:gd name="adj" fmla="val 46667"/>
            </a:avLst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282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21305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保真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578608"/>
            <a:ext cx="303580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未注册节点保留 RawConfig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高于当前 NodeVersion 则拒绝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9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BindingKey 自动归一化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演进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01952" y="5440680"/>
            <a:ext cx="8869680" cy="0"/>
          </a:xfrm>
          <a:prstGeom prst="line">
            <a:avLst/>
          </a:prstGeom>
          <a:noFill/>
          <a:ln w="38100">
            <a:solidFill>
              <a:srgbClr val="AFC5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5285232"/>
            <a:ext cx="310896" cy="310896"/>
          </a:xfrm>
          <a:prstGeom prst="ellipse">
            <a:avLst/>
          </a:prstGeom>
          <a:solidFill>
            <a:srgbClr val="F18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5212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27832" y="5486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旧格式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5285232"/>
            <a:ext cx="310896" cy="310896"/>
          </a:xfrm>
          <a:prstGeom prst="ellipse">
            <a:avLst/>
          </a:prstGeom>
          <a:solidFill>
            <a:srgbClr val="F18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5212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5486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旧绑定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26880" y="5285232"/>
            <a:ext cx="310896" cy="310896"/>
          </a:xfrm>
          <a:prstGeom prst="ellipse">
            <a:avLst/>
          </a:prstGeom>
          <a:solidFill>
            <a:srgbClr val="0C7C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5212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20072" y="5486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80360" y="6062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注意：未知节点可“打开并保留”，但无法通过目录校验并运行。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UI.Shared：把编辑器能力做成跨 UI 框架的状态模型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WinForms / WPF 只需消费共享会话、属性模型与运行快照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69080" y="1938528"/>
            <a:ext cx="4069080" cy="2487168"/>
          </a:xfrm>
          <a:prstGeom prst="roundRect">
            <a:avLst>
              <a:gd name="adj" fmla="val 5882"/>
            </a:avLst>
          </a:prstGeom>
          <a:solidFill>
            <a:srgbClr val="173A38"/>
          </a:solidFill>
          <a:ln w="12700">
            <a:solidFill>
              <a:srgbClr val="17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0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WorkflowDesignerSession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17136" y="27706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E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· 增删 · 连线 · 路由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复制粘贴 · 对齐分布 · 自动布局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Undo/Redo · Viewport · Runtime 状态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" y="20071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1548" y="200710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9105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DocumentWorkspace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" y="1920240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 / 打开 / 保存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脏状态 / 最近文件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2057400"/>
            <a:ext cx="713232" cy="502920"/>
          </a:xfrm>
          <a:prstGeom prst="line">
            <a:avLst/>
          </a:prstGeom>
          <a:noFill/>
          <a:ln w="2032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41148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" y="465886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1548" y="4658868"/>
            <a:ext cx="100584" cy="10058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24281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PropertyInspector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" y="4572000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 / 动态可见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绑定候选 / 结构化编辑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V="1">
            <a:off x="3310128" y="3794760"/>
            <a:ext cx="713232" cy="914400"/>
          </a:xfrm>
          <a:prstGeom prst="line">
            <a:avLst/>
          </a:prstGeom>
          <a:noFill/>
          <a:ln w="20320">
            <a:solidFill>
              <a:srgbClr val="F18F3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87968" y="14630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37676" y="200710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43716" y="2007108"/>
            <a:ext cx="100584" cy="10058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59105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DesignerNavigator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34272" y="1920240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根画布 / 子画布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面包屑导航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H="1">
            <a:off x="8183880" y="2057400"/>
            <a:ext cx="658368" cy="502920"/>
          </a:xfrm>
          <a:prstGeom prst="line">
            <a:avLst/>
          </a:prstGeom>
          <a:noFill/>
          <a:ln w="20320">
            <a:solidFill>
              <a:srgbClr val="32C3A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87968" y="41148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37676" y="46588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43716" y="4658868"/>
            <a:ext cx="100584" cy="100584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424281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RuntimeMonitor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34272" y="4572000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Scope / Trace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耗时趋势 / CSV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8183880" y="3794760"/>
            <a:ext cx="658368" cy="914400"/>
          </a:xfrm>
          <a:prstGeom prst="line">
            <a:avLst/>
          </a:prstGeom>
          <a:noFill/>
          <a:ln w="2032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463040" y="59893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StudioRuntimeBinding 在 SynchronizationContext 上合并最新快照，避免 UI 被高频运行事件淹没。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视觉链路：工作流保持厂商无关，UI 优先走原生图像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/ Image / Tool / Overlay 接口位于 MachineVision.Abstractions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993392" cy="2103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20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 / 文件 / 文件夹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Vision.AcquireImage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852928"/>
            <a:ext cx="292608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828800"/>
            <a:ext cx="1993392" cy="2103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4952" y="2011680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020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4952" y="25786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ProviderId + ToolId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44952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Vision.RunTool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73752" y="2852928"/>
            <a:ext cx="292608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21224" y="1828800"/>
            <a:ext cx="1993392" cy="2103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04104" y="2011680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2020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04104" y="25786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+ Overlay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04104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IVisionDisplaySink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32904" y="2852928"/>
            <a:ext cx="292608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0376" y="1828800"/>
            <a:ext cx="1993392" cy="2103120"/>
          </a:xfrm>
          <a:prstGeom prst="roundRect">
            <a:avLst>
              <a:gd name="adj" fmla="val 5505"/>
            </a:avLst>
          </a:prstGeom>
          <a:solidFill>
            <a:srgbClr val="DDF3ED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63256" y="2011680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63256" y="2020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63256" y="25786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单槽 + FPS 节流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63256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VisionDisplayHub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92056" y="2852928"/>
            <a:ext cx="292608" cy="0"/>
          </a:xfrm>
          <a:prstGeom prst="line">
            <a:avLst/>
          </a:prstGeom>
          <a:noFill/>
          <a:ln w="25400">
            <a:solidFill>
              <a:srgbClr val="0C7C7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1828800"/>
            <a:ext cx="1993392" cy="2103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22408" y="2011680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22408" y="2020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22408" y="25786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lease 优先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22408" y="31272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WPF / WinForms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4498848"/>
            <a:ext cx="5349240" cy="1115568"/>
          </a:xfrm>
          <a:prstGeom prst="roundRect">
            <a:avLst>
              <a:gd name="adj" fmla="val 9836"/>
            </a:avLst>
          </a:prstGeom>
          <a:solidFill>
            <a:srgbClr val="173A38"/>
          </a:solidFill>
          <a:ln w="12700">
            <a:solidFill>
              <a:srgbClr val="173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709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资源与性能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57400" y="46451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IVisionResourceTracker 管生命周期；原生图像通过 Lease 避免过早释放；必要时才转像素帧。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291072" y="4498848"/>
            <a:ext cx="5230368" cy="1115568"/>
          </a:xfrm>
          <a:prstGeom prst="roundRect">
            <a:avLst>
              <a:gd name="adj" fmla="val 9836"/>
            </a:avLst>
          </a:prstGeom>
          <a:solidFill>
            <a:srgbClr val="FFF0E5"/>
          </a:solidFill>
          <a:ln w="12700">
            <a:solidFill>
              <a:srgbClr val="EAC3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8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交互编辑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80960" y="4645152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Session/Page 与 OverlayComposer 独立于具体桌面框架，Renderer 负责最终绘制。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2926080" y="598017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视觉节点失败可选择 Failure 端口，或升级为可恢复中断。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工程质量：关键路径已有测试，但解决方案覆盖不完整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本次实际逐个执行仓库中全部 12 个测试项目：189 / 189 通过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013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87452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核心与运行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65176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23 + Runtime 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11296" y="1572768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2464" y="18013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18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727448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12464" y="265176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Composite 5 + Standard 42 + Motion 6 + Process 14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64224" y="1572768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5392" y="18013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2C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580376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265176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51 + Windows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17152" y="1572768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18013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10433304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脚本与视觉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265176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 4 + Vision 16 + PaddleOCR 4 + Persistence 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3886200"/>
            <a:ext cx="5285232" cy="1572768"/>
          </a:xfrm>
          <a:prstGeom prst="roundRect">
            <a:avLst>
              <a:gd name="adj" fmla="val 6977"/>
            </a:avLst>
          </a:prstGeom>
          <a:solidFill>
            <a:srgbClr val="E4F1EF"/>
          </a:solidFill>
          <a:ln w="12700">
            <a:solidFill>
              <a:srgbClr val="BDD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151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096512"/>
            <a:ext cx="37033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完整构建成功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全部测试项目逐一运行，无失败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并行、绑定、持久化、UI 会话均有专门测试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3886200"/>
            <a:ext cx="5285232" cy="1572768"/>
          </a:xfrm>
          <a:prstGeom prst="roundRect">
            <a:avLst>
              <a:gd name="adj" fmla="val 6977"/>
            </a:avLst>
          </a:prstGeom>
          <a:solidFill>
            <a:srgbClr val="FDEAEA"/>
          </a:solidFill>
          <a:ln w="12700">
            <a:solidFill>
              <a:srgbClr val="E7B9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151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33488" y="4096512"/>
            <a:ext cx="373075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DP.DP.WorkFlow.sln 只收录 7 / 12 个测试项目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Runtime / Standard / Persistence / Composite 测试未进入默认 solution test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若只跑 sln，会漏掉 93 项测试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58338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建议：把全部测试项目加入解决方案，并将“逐项目发现 + 运行”设为 CI 兜底。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架构评价：深模块已经形成，热点集中在少数大类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优势来自窄接口与集中治理；风险主要来自规模、信任边界与命名漂移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91072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2082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81328" y="1929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窄运行接口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1901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NodeExecutionResult 只表达端口与结果，不泄漏图遍历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16352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999232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08376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2916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集中治理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2889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 统一并行、暂停、快照、Trace、恢复与子运行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803904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986784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959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seam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06040" y="38770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Handler、设备服务、视觉 Provider、UI Adapter 均可替换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791456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974336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9834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81328" y="4892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兼容意识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06040" y="4864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/ NodeVersion / Unknown 节点 / Legacy 迁移齐备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0E5"/>
          </a:solidFill>
          <a:ln w="12700">
            <a:solidFill>
              <a:srgbClr val="E7B98E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2011680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02082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59168" y="1929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巨型实现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83880" y="1901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DesignerSession 1,277 行；Engine 815 行；职责继续增长会降低 locality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2816352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2999232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008376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59168" y="2916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脚本边界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83880" y="2889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Roslyn 脚本被明确视为“受信任代码”，可访问宿主 Services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03904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3986784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9959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59168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项目漂移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183880" y="38770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DP.WorkFlow.Scripting 为空壳，实际依赖 ScriptEngine；名称会误导维护者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791456"/>
            <a:ext cx="52303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FC5C2"/>
            </a:solidFill>
            <a:prstDash val="solid"/>
          </a:ln>
          <a:effectLst>
            <a:outerShdw sx="100000" sy="100000" kx="0" ky="0" algn="bl" rotWithShape="0" blurRad="19050" dist="50800" dir="2700000">
              <a:srgbClr val="5B7472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46520" y="4974336"/>
            <a:ext cx="475488" cy="274320"/>
          </a:xfrm>
          <a:prstGeom prst="roundRect">
            <a:avLst>
              <a:gd name="adj" fmla="val 46667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9834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59168" y="4892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静态字符串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183880" y="4864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18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NodeType / 端口 / 服务键较多依赖字符串，重构需更强自动校验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43000" y="5989320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删除测试：若去掉 Engine / Compiler / DesignerSession，复杂度会散落到所有调用者——这些模块正在“赚取深度”。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58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94360"/>
            <a:ext cx="1280160" cy="274320"/>
          </a:xfrm>
          <a:prstGeom prst="roundRect">
            <a:avLst>
              <a:gd name="adj" fmla="val 46667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建议路线：先补工程闭环，再拆热点实现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B7E34A"/>
          </a:solidFill>
          <a:ln w="12700">
            <a:solidFill>
              <a:srgbClr val="B7E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482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53312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3A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12848" y="19110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修复项目基线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189280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8DD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5 个遗漏测试项目加入 DP.DP.WorkFlow.sln；删除或说明 DP.WorkFlow.Scripting 空壳。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0" cy="475488"/>
          </a:xfrm>
          <a:prstGeom prst="line">
            <a:avLst/>
          </a:prstGeom>
          <a:noFill/>
          <a:ln w="25400">
            <a:solidFill>
              <a:srgbClr val="4770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953512"/>
            <a:ext cx="420624" cy="420624"/>
          </a:xfrm>
          <a:prstGeom prst="ellipse">
            <a:avLst/>
          </a:prstGeom>
          <a:solidFill>
            <a:srgbClr val="32C3A5"/>
          </a:solidFill>
          <a:ln w="12700">
            <a:solidFill>
              <a:srgbClr val="32C3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083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2898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3A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2848" y="28712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强化契约自动化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285292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8DD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为节点注册完整性、NodeType/端口唯一性、持久化 round-trip 建统一契约测试。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0" cy="475488"/>
          </a:xfrm>
          <a:prstGeom prst="line">
            <a:avLst/>
          </a:prstGeom>
          <a:noFill/>
          <a:ln w="25400">
            <a:solidFill>
              <a:srgbClr val="4770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913632"/>
            <a:ext cx="420624" cy="420624"/>
          </a:xfrm>
          <a:prstGeom prst="ellipse">
            <a:avLst/>
          </a:prstGeom>
          <a:solidFill>
            <a:srgbClr val="F18F3B"/>
          </a:solidFill>
          <a:ln w="12700">
            <a:solidFill>
              <a:srgbClr val="F18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684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3312" y="3858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3A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12848" y="38313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拆分热点实现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381304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8DD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保持现有外部 interface 不变，将 Engine 拆为调度/并行/恢复内部模块；DesignerSession 拆命令历史/选择/连线/布局。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0" cy="475488"/>
          </a:xfrm>
          <a:prstGeom prst="line">
            <a:avLst/>
          </a:prstGeom>
          <a:noFill/>
          <a:ln w="25400">
            <a:solidFill>
              <a:srgbClr val="4770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873752"/>
            <a:ext cx="420624" cy="420624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9286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53312" y="4818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3A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12848" y="47914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收紧运行安全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97680" y="47731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8DD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为脚本建立显式启用策略与允许程序集清单；为视觉资源、Trace 容量、并行规模设运行预算。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5897880"/>
            <a:ext cx="10835640" cy="566928"/>
          </a:xfrm>
          <a:prstGeom prst="roundRect">
            <a:avLst>
              <a:gd name="adj" fmla="val 19355"/>
            </a:avLst>
          </a:prstGeom>
          <a:solidFill>
            <a:srgbClr val="173A38"/>
          </a:solidFill>
          <a:ln w="12700">
            <a:solidFill>
              <a:srgbClr val="2C57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602589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E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目标状态：保持“模型 → 编译 → 执行”的外部 seam 稳定，让复杂度继续向内部收敛。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73968" y="658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29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DP.WorkFlow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DP.WorkFlow 流程图架构梳理</dc:title>
  <dc:subject>DP.WorkFlow C# 流程图架构与逻辑梳理</dc:subject>
  <dc:creator>OpenAI coding assistant</dc:creator>
  <cp:lastModifiedBy>OpenAI coding assistant</cp:lastModifiedBy>
  <cp:revision>1</cp:revision>
  <dcterms:created xsi:type="dcterms:W3CDTF">2026-08-03T05:56:06Z</dcterms:created>
  <dcterms:modified xsi:type="dcterms:W3CDTF">2026-08-03T05:56:06Z</dcterms:modified>
</cp:coreProperties>
</file>